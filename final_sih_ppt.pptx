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003" autoAdjust="0"/>
  </p:normalViewPr>
  <p:slideViewPr>
    <p:cSldViewPr snapToGrid="0" snapToObjects="1">
      <p:cViewPr varScale="1">
        <p:scale>
          <a:sx n="92" d="100"/>
          <a:sy n="92" d="100"/>
        </p:scale>
        <p:origin x="23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final_sih_ppt%5b1%5d.pptx" TargetMode="Externa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mc.ncbi.nlm.nih.gov/articles/PMC11816903/?utm_source=chatgpt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link.springer.com/article/10.1186/s12982-024-00271-1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mc.ncbi.nlm.nih.gov/articles/PMC11404635/" TargetMode="External"/><Relationship Id="rId5" Type="http://schemas.openxmlformats.org/officeDocument/2006/relationships/hyperlink" Target="https://www.sciencedirect.com/science/article/abs/pii/S0010482524011193?utm_source=chatgpt.com" TargetMode="External"/><Relationship Id="rId4" Type="http://schemas.openxmlformats.org/officeDocument/2006/relationships/hyperlink" Target="https://www.nature.com/articles/s41598-024-79989-6" TargetMode="External"/><Relationship Id="rId9" Type="http://schemas.openxmlformats.org/officeDocument/2006/relationships/hyperlink" Target="https://prezi.com/p/zxhpvdhloalx/smart-community-health-monitoring-and-early-warning-system-for-water-borne-diseases-in-rural-northeast-indi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927521" y="413821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" y="1397673"/>
            <a:ext cx="592455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000" dirty="0"/>
              <a:t>SIH25001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dirty="0"/>
              <a:t>Smart Community Health Monitoring and Early Warning System for Water-Borne Diseases in Rural Northeast India</a:t>
            </a:r>
          </a:p>
          <a:p>
            <a:pPr algn="just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000" dirty="0"/>
              <a:t>MedTech / BioTech / HealthTech</a:t>
            </a:r>
          </a:p>
          <a:p>
            <a:pPr algn="just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algn="just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78883</a:t>
            </a:r>
          </a:p>
          <a:p>
            <a:pPr algn="just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Innovastra-G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 rot="10800000" flipV="1">
            <a:off x="1855176" y="48818"/>
            <a:ext cx="7986189" cy="478096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Community Health Monitoring &amp; Early Warning System for Water-Borne Diseases </a:t>
            </a:r>
            <a:endParaRPr lang="en-US" sz="24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" y="252246"/>
            <a:ext cx="203102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Innovastra-G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Generated image">
            <a:extLst>
              <a:ext uri="{FF2B5EF4-FFF2-40B4-BE49-F238E27FC236}">
                <a16:creationId xmlns:a16="http://schemas.microsoft.com/office/drawing/2014/main" id="{66E400D8-912B-E3D4-4BDE-0717F4A8E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26" y="3766221"/>
            <a:ext cx="3354280" cy="2505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540E9F-F7E8-8860-8253-C987C5DF66EA}"/>
              </a:ext>
            </a:extLst>
          </p:cNvPr>
          <p:cNvSpPr/>
          <p:nvPr/>
        </p:nvSpPr>
        <p:spPr>
          <a:xfrm>
            <a:off x="283000" y="1143000"/>
            <a:ext cx="5427335" cy="239893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b="1" dirty="0"/>
          </a:p>
          <a:p>
            <a:pPr algn="ctr"/>
            <a:r>
              <a:rPr lang="en-IN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Frequent water-borne outbreaks in rural NE India.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Current systems: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slow, reactive, fragmented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Facts: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40% villages lack water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Monsoon ↑ outbreak risk by 60%.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Delayed response = avoidable deaths &amp; wasted resources.</a:t>
            </a:r>
          </a:p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6A8DF0F-CB82-D813-FB73-C18BACFC0566}"/>
              </a:ext>
            </a:extLst>
          </p:cNvPr>
          <p:cNvSpPr/>
          <p:nvPr/>
        </p:nvSpPr>
        <p:spPr>
          <a:xfrm>
            <a:off x="7295606" y="1125446"/>
            <a:ext cx="4613394" cy="49205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Solution:</a:t>
            </a:r>
          </a:p>
          <a:p>
            <a:pPr algn="ctr"/>
            <a:endParaRPr lang="en-US" sz="16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Real-time, community-driven digital health platform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combining: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Multilingual offline-first mobile app + SMS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IoT sensors &amp; manual test kits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AI/ML-powered outbreak prediction and hotspot 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makes it different: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Community-as-sensor network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Predictive epidemic forecasts like “health weather reports”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Policy-ready automated alerts for officials</a:t>
            </a:r>
          </a:p>
          <a:p>
            <a:pPr lvl="1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dirty="0"/>
          </a:p>
        </p:txBody>
      </p:sp>
      <p:pic>
        <p:nvPicPr>
          <p:cNvPr id="19" name="Picture 11" descr="Generated image">
            <a:extLst>
              <a:ext uri="{FF2B5EF4-FFF2-40B4-BE49-F238E27FC236}">
                <a16:creationId xmlns:a16="http://schemas.microsoft.com/office/drawing/2014/main" id="{0E7281F7-30F4-3820-94DF-CE03E023AE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06" b="18649"/>
          <a:stretch>
            <a:fillRect/>
          </a:stretch>
        </p:blipFill>
        <p:spPr bwMode="auto">
          <a:xfrm>
            <a:off x="8069303" y="5361192"/>
            <a:ext cx="3232803" cy="68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D7E00E6-F4F6-3B7A-E168-CC078CFD01B4}"/>
              </a:ext>
            </a:extLst>
          </p:cNvPr>
          <p:cNvSpPr txBox="1"/>
          <p:nvPr/>
        </p:nvSpPr>
        <p:spPr>
          <a:xfrm>
            <a:off x="4448929" y="3585698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rPr>
              <a:t>Target Audiences</a:t>
            </a:r>
          </a:p>
        </p:txBody>
      </p:sp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A0861C30-B99A-4351-7F0F-296024F0A012}"/>
              </a:ext>
            </a:extLst>
          </p:cNvPr>
          <p:cNvSpPr/>
          <p:nvPr/>
        </p:nvSpPr>
        <p:spPr>
          <a:xfrm>
            <a:off x="4054215" y="3955825"/>
            <a:ext cx="3004193" cy="2262413"/>
          </a:xfrm>
          <a:prstGeom prst="round2Diag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85C62970-9659-0E7D-A591-59342E49A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7703" y="4269282"/>
            <a:ext cx="296930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Citizens &amp; local communities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ASHA &amp; health workers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District/state health officials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&amp; policy makers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3079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Innovastra-G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74" y="1156352"/>
            <a:ext cx="6395396" cy="457702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17070" y="1413916"/>
            <a:ext cx="5338616" cy="279821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Stack: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→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TensorFlow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(LSTM for time-series prediction, DBSCAN for clustering outbreaks).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Sources →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Govt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health data, water quality datasets (CPCB, WHO), synthetic data generation.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 → Flutter (mobile app),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(dashboard).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 →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Django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PostGIS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(geo-spatial support).Alerts →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Twilio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Msg91 (SMS &amp; IVR alerts).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608" y="4348650"/>
            <a:ext cx="4766817" cy="200770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3B5CFB9-7C7E-8760-2FC5-824133A83385}"/>
              </a:ext>
            </a:extLst>
          </p:cNvPr>
          <p:cNvSpPr/>
          <p:nvPr/>
        </p:nvSpPr>
        <p:spPr>
          <a:xfrm>
            <a:off x="609600" y="5733375"/>
            <a:ext cx="5691447" cy="4848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Explanation Video Link: </a:t>
            </a:r>
            <a:r>
              <a:rPr lang="en-US" dirty="0">
                <a:hlinkClick r:id="rId6" action="ppaction://hlinkpres?slideindex=1&amp;slidetitle="/>
              </a:rPr>
              <a:t>https://youtu.be/ofJfB-CiySA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20912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Innovastra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-G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5A83AC5-F68B-5A3B-1E30-5D0151233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3" y="1453165"/>
            <a:ext cx="1209338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IoT sensors (pH, turbidity, temperature), ESP32/Arduino, React dashboards, Leaflet maps, AI/DL (LSTM) → prototype-ready.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Low-cost setup; prevents expensive disease outbreaks.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Health workers report via mobile; villagers get SMS/IVR alerts; minimal training.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3D7E2E-2D51-8844-DD05-A9D5E57D6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256626"/>
              </p:ext>
            </p:extLst>
          </p:nvPr>
        </p:nvGraphicFramePr>
        <p:xfrm>
          <a:off x="329773" y="2795797"/>
          <a:ext cx="6673687" cy="3106286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502410">
                  <a:extLst>
                    <a:ext uri="{9D8B030D-6E8A-4147-A177-3AD203B41FA5}">
                      <a16:colId xmlns:a16="http://schemas.microsoft.com/office/drawing/2014/main" val="926059758"/>
                    </a:ext>
                  </a:extLst>
                </a:gridCol>
                <a:gridCol w="1385569">
                  <a:extLst>
                    <a:ext uri="{9D8B030D-6E8A-4147-A177-3AD203B41FA5}">
                      <a16:colId xmlns:a16="http://schemas.microsoft.com/office/drawing/2014/main" val="4238940877"/>
                    </a:ext>
                  </a:extLst>
                </a:gridCol>
                <a:gridCol w="3785708">
                  <a:extLst>
                    <a:ext uri="{9D8B030D-6E8A-4147-A177-3AD203B41FA5}">
                      <a16:colId xmlns:a16="http://schemas.microsoft.com/office/drawing/2014/main" val="2961059530"/>
                    </a:ext>
                  </a:extLst>
                </a:gridCol>
              </a:tblGrid>
              <a:tr h="416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265429"/>
                  </a:ext>
                </a:extLst>
              </a:tr>
              <a:tr h="3748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Connectivity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Delayed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LoRa/GSM; offline sync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722478"/>
                  </a:ext>
                </a:extLst>
              </a:tr>
              <a:tr h="3748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Sensor 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Inaccurate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Calibration &amp; multiple sensors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095462"/>
                  </a:ext>
                </a:extLst>
              </a:tr>
              <a:tr h="565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Data Entry Errors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Wrong predictions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Simple forms + validation + AI anomaly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251792"/>
                  </a:ext>
                </a:extLst>
              </a:tr>
              <a:tr h="3748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Community Trust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Low adoption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Awareness campaigns; clear alerts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5229942"/>
                  </a:ext>
                </a:extLst>
              </a:tr>
              <a:tr h="3748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AI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Misleading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Start simple; retrain with local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6466278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Scalability &amp; Funding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Limited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Pilot → govt/NGO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319959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B076BB-134A-B186-7302-444837A5C20F}"/>
              </a:ext>
            </a:extLst>
          </p:cNvPr>
          <p:cNvSpPr/>
          <p:nvPr/>
        </p:nvSpPr>
        <p:spPr>
          <a:xfrm>
            <a:off x="7429500" y="2649894"/>
            <a:ext cx="4152900" cy="343945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0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Estimated Expenditure</a:t>
            </a:r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 sensors (pH, turbidity, temp) ×5 villages: </a:t>
            </a:r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₹6,000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Microcontrollers (ESP32/Arduino) ×5: </a:t>
            </a:r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₹4,000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 (SIM/LoRa modules): </a:t>
            </a:r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₹2,000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&amp; software (open-source): </a:t>
            </a:r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₹0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Misc. (cables, mounting, small lab tools): </a:t>
            </a:r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₹4,000</a:t>
            </a:r>
          </a:p>
          <a:p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Prototype Cost: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≈ ₹16,000 – ₹17,000</a:t>
            </a:r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2991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Innovastra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-G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0796D4-99BC-A607-44DA-997B656DDEED}"/>
              </a:ext>
            </a:extLst>
          </p:cNvPr>
          <p:cNvSpPr txBox="1"/>
          <p:nvPr/>
        </p:nvSpPr>
        <p:spPr>
          <a:xfrm>
            <a:off x="329773" y="1224512"/>
            <a:ext cx="68426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Potential Impact on Rural Communities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Early detection of water-borne diseases → fewer illnesses &amp; deaths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Real-time alerts → villagers take preventive 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Health workers get actionable insights → faster interventions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Builds trust in local health initiatives &amp; technology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AFD3EB-6255-08B3-DF76-59BB93B38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927463"/>
              </p:ext>
            </p:extLst>
          </p:nvPr>
        </p:nvGraphicFramePr>
        <p:xfrm>
          <a:off x="419878" y="3033424"/>
          <a:ext cx="6842612" cy="280416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462097">
                  <a:extLst>
                    <a:ext uri="{9D8B030D-6E8A-4147-A177-3AD203B41FA5}">
                      <a16:colId xmlns:a16="http://schemas.microsoft.com/office/drawing/2014/main" val="221508188"/>
                    </a:ext>
                  </a:extLst>
                </a:gridCol>
                <a:gridCol w="1326853">
                  <a:extLst>
                    <a:ext uri="{9D8B030D-6E8A-4147-A177-3AD203B41FA5}">
                      <a16:colId xmlns:a16="http://schemas.microsoft.com/office/drawing/2014/main" val="4226838883"/>
                    </a:ext>
                  </a:extLst>
                </a:gridCol>
                <a:gridCol w="1727100">
                  <a:extLst>
                    <a:ext uri="{9D8B030D-6E8A-4147-A177-3AD203B41FA5}">
                      <a16:colId xmlns:a16="http://schemas.microsoft.com/office/drawing/2014/main" val="4101755379"/>
                    </a:ext>
                  </a:extLst>
                </a:gridCol>
                <a:gridCol w="2326562">
                  <a:extLst>
                    <a:ext uri="{9D8B030D-6E8A-4147-A177-3AD203B41FA5}">
                      <a16:colId xmlns:a16="http://schemas.microsoft.com/office/drawing/2014/main" val="3456321083"/>
                    </a:ext>
                  </a:extLst>
                </a:gridCol>
              </a:tblGrid>
              <a:tr h="488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Traditional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Smart Health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Improvement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921022"/>
                  </a:ext>
                </a:extLst>
              </a:tr>
              <a:tr h="448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Disease Detection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7–14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1–2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7× faster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278737"/>
                  </a:ext>
                </a:extLst>
              </a:tr>
              <a:tr h="448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Community Reach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Limited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Real-time village-wide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5–10× broader coverage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414997"/>
                  </a:ext>
                </a:extLst>
              </a:tr>
              <a:tr h="483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Healthcare Cost per Outbreak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₹5–10 lakh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₹50–75k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10× cost savings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545277"/>
                  </a:ext>
                </a:extLst>
              </a:tr>
              <a:tr h="632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Water Contamination Awareness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Manual inspection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IoT + AI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Continuous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036072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0930000-C9A9-6F58-6E52-F9D38695E99A}"/>
              </a:ext>
            </a:extLst>
          </p:cNvPr>
          <p:cNvSpPr txBox="1"/>
          <p:nvPr/>
        </p:nvSpPr>
        <p:spPr>
          <a:xfrm>
            <a:off x="7677189" y="1435694"/>
            <a:ext cx="446272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Benefits / Key Advantages: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Efficiency: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Real-time monitoring &amp; AI prediction → faster 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Cost-Effectiveness: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Prevents expensive treatments &amp; hospitalizations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Scalability: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Expandable across all rural regions of India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Long-Term Value: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Continuous improvement, healthier communities, billions saved in healthcare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218304"/>
            <a:ext cx="220912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Innovastra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-G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8FC5C43-F70E-3A41-8F15-1EE668DA9949}"/>
              </a:ext>
            </a:extLst>
          </p:cNvPr>
          <p:cNvSpPr txBox="1"/>
          <p:nvPr/>
        </p:nvSpPr>
        <p:spPr>
          <a:xfrm>
            <a:off x="1134208" y="1282116"/>
            <a:ext cx="1036613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IoT &amp; AI for Waterborne Disease Prediction</a:t>
            </a:r>
            <a:endParaRPr lang="en-IN" dirty="0"/>
          </a:p>
          <a:p>
            <a:r>
              <a:rPr lang="en-IN" dirty="0"/>
              <a:t>Nature: </a:t>
            </a:r>
            <a:r>
              <a:rPr lang="en-IN" dirty="0">
                <a:hlinkClick r:id="rId4"/>
              </a:rPr>
              <a:t>https://www.nature.com/articles/s41598-024-79989-6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IoT &amp; AI Management Model</a:t>
            </a:r>
            <a:endParaRPr lang="en-IN" dirty="0"/>
          </a:p>
          <a:p>
            <a:r>
              <a:rPr lang="en-IN" dirty="0"/>
              <a:t>ScienceDirect: </a:t>
            </a:r>
            <a:r>
              <a:rPr lang="en-IN" dirty="0">
                <a:hlinkClick r:id="rId5"/>
              </a:rPr>
              <a:t>https://www.sciencedirect.com/science/article/abs/pii/S0010482524011193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Digital Health Solutions in Rural Areas</a:t>
            </a:r>
            <a:endParaRPr lang="en-IN" dirty="0"/>
          </a:p>
          <a:p>
            <a:r>
              <a:rPr lang="en-IN" dirty="0"/>
              <a:t>PubMed Central: </a:t>
            </a:r>
            <a:r>
              <a:rPr lang="en-IN" dirty="0">
                <a:hlinkClick r:id="rId6"/>
              </a:rPr>
              <a:t>https://pmc.ncbi.nlm.nih.gov/articles/PMC11404635/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Telehealth Enhancing Rural Healthcare</a:t>
            </a:r>
            <a:endParaRPr lang="en-IN" dirty="0"/>
          </a:p>
          <a:p>
            <a:r>
              <a:rPr lang="en-IN" dirty="0"/>
              <a:t>SpringerLink: </a:t>
            </a:r>
            <a:r>
              <a:rPr lang="en-IN" dirty="0">
                <a:hlinkClick r:id="rId7"/>
              </a:rPr>
              <a:t>https://link.springer.com/article/10.1186/s12982-024-00271-1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AI &amp; Telemedicine in Rural Healthcare</a:t>
            </a:r>
            <a:endParaRPr lang="en-IN" dirty="0"/>
          </a:p>
          <a:p>
            <a:r>
              <a:rPr lang="en-IN" dirty="0"/>
              <a:t>PubMed Central: </a:t>
            </a:r>
            <a:r>
              <a:rPr lang="en-IN" dirty="0">
                <a:hlinkClick r:id="rId8"/>
              </a:rPr>
              <a:t>https://pmc.ncbi.nlm.nih.gov/articles/PMC11816903/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Community-Driven Health Monitoring</a:t>
            </a:r>
            <a:endParaRPr lang="en-IN" dirty="0"/>
          </a:p>
          <a:p>
            <a:r>
              <a:rPr lang="en-IN" dirty="0"/>
              <a:t>Prezi: </a:t>
            </a:r>
            <a:r>
              <a:rPr lang="en-IN" dirty="0">
                <a:hlinkClick r:id="rId9"/>
              </a:rPr>
              <a:t>https://prezi.com/p/zxhpvdhloalx/smart-community-health-monitoring-and-early-warning-system-for-water-borne-diseases-in-rural-northeast-india/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Key Insight:</a:t>
            </a:r>
            <a:r>
              <a:rPr lang="en-IN" dirty="0"/>
              <a:t> Credible research supports IoT + AI + community approaches for proactive, scalable rural health solutions.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8721</TotalTime>
  <Words>786</Words>
  <Application>Microsoft Office PowerPoint</Application>
  <PresentationFormat>Widescreen</PresentationFormat>
  <Paragraphs>149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</vt:lpstr>
      <vt:lpstr> Smart Community Health Monitoring &amp; Early Warning System for Water-Borne Diseases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Shreya B Yadav</cp:lastModifiedBy>
  <cp:revision>158</cp:revision>
  <dcterms:created xsi:type="dcterms:W3CDTF">2013-12-12T18:46:50Z</dcterms:created>
  <dcterms:modified xsi:type="dcterms:W3CDTF">2025-09-29T18:33:32Z</dcterms:modified>
  <cp:category/>
</cp:coreProperties>
</file>